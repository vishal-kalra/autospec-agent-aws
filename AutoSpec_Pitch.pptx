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03"/>
    <p:restoredTop sz="94610"/>
  </p:normalViewPr>
  <p:slideViewPr>
    <p:cSldViewPr snapToGrid="0" snapToObjects="1">
      <p:cViewPr>
        <p:scale>
          <a:sx n="130" d="100"/>
          <a:sy n="130" d="100"/>
        </p:scale>
        <p:origin x="-25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81460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 (0:00-0:30): What if a PM could type three sentences and get back a documented, tested, working prototype? No engineers needed, no waiting — just AI agents building software for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Priya is our persona. The gap: great ideas, no way to turn them into tested code fast. Today she waits days for an engineer.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Architecture (0:30-1:00): four AI agents in a relay. One brief in, four artifacts out, no human touches it mid-run.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relay is linear — but the Review Agent can send work BACK. That loop is the heart of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pipelines fail and stop. Ours diagnoses the exact unmet criteria and retries until aligned — bounded at 3 so it never loops forever.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 (1:00-2:30): click Run, narrate as agents light up. Spec wrote 6 requirements... Build generated a module... Test ran 8 tests, all passing, 100% coverage... Review says ALIGNED. Then click Self-Correction Demo to show the loop fixing a gap live.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are real numbers from a live run — pytest actually executes, coverage is parsed from the report. Not mocked.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meta-story judges love: Kiro turns English into specs and code. We used exactly that workflow to build a system that does the same 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every point back to the rubric. We hit all four criteria deliberately — the demo and the spec are our strongest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(2:30-3:00): We built this with Kiro's spec workflow — and the tool does exactly what Kiro does: plain English into working, tested software. That's AutoSpec.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10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183880" y="502920"/>
            <a:ext cx="3520440" cy="457200"/>
          </a:xfrm>
          <a:prstGeom prst="roundRect">
            <a:avLst>
              <a:gd name="adj" fmla="val 50000"/>
            </a:avLst>
          </a:prstGeom>
          <a:solidFill>
            <a:srgbClr val="B06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183880" y="502920"/>
            <a:ext cx="3520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KIRO HACKATHON  ·  CHALLENGE 8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77240" y="2240280"/>
            <a:ext cx="914400" cy="914400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45973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2057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6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AutoSpec</a:t>
            </a:r>
            <a:endParaRPr lang="en-US" sz="6200" dirty="0"/>
          </a:p>
        </p:txBody>
      </p:sp>
      <p:sp>
        <p:nvSpPr>
          <p:cNvPr id="7" name="Text 4"/>
          <p:cNvSpPr/>
          <p:nvPr/>
        </p:nvSpPr>
        <p:spPr>
          <a:xfrm>
            <a:off x="1847088" y="324612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 That Writes Its Own Spec, Builds &amp; Tests</a:t>
            </a:r>
            <a:endParaRPr lang="en-US" sz="2500" dirty="0"/>
          </a:p>
        </p:txBody>
      </p:sp>
      <p:sp>
        <p:nvSpPr>
          <p:cNvPr id="8" name="Text 5"/>
          <p:cNvSpPr/>
          <p:nvPr/>
        </p:nvSpPr>
        <p:spPr>
          <a:xfrm>
            <a:off x="1874520" y="39776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  →  Spec  →  Code  →  Test  →  Review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874520" y="4709160"/>
            <a:ext cx="9418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multi-agent pipeline that turns plain English into a documented, tested, working prototype — autonomously.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69164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143000" y="2057400"/>
            <a:ext cx="640080" cy="640080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6619" y="2211019"/>
            <a:ext cx="332842" cy="33284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65960" y="2011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Priya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1965960" y="24505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Manager, software consultancy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188720" y="3063240"/>
            <a:ext cx="47548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Describes what she wants in plain English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no engineering background at all</a:t>
            </a:r>
            <a:endParaRPr lang="en-US" sz="16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Needs a working prototype - documented, coded, tested</a:t>
            </a:r>
            <a:endParaRPr lang="en-US" sz="1600" dirty="0"/>
          </a:p>
          <a:p>
            <a:pPr marL="228600" indent="-228600">
              <a:buSzPct val="100000"/>
              <a:buChar char="•"/>
            </a:pPr>
            <a:r>
              <a:rPr lang="en-US" sz="16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to demo it to clients the SAME DAY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6537960" y="1691640"/>
            <a:ext cx="4846320" cy="4206240"/>
          </a:xfrm>
          <a:prstGeom prst="roundRect">
            <a:avLst>
              <a:gd name="adj" fmla="val 2609"/>
            </a:avLst>
          </a:prstGeom>
          <a:solidFill>
            <a:srgbClr val="1B274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903720" y="2057400"/>
            <a:ext cx="640080" cy="640080"/>
          </a:xfrm>
          <a:prstGeom prst="ellipse">
            <a:avLst/>
          </a:prstGeom>
          <a:solidFill>
            <a:srgbClr val="B06BF2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57339" y="2211019"/>
            <a:ext cx="332842" cy="33284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858000" y="2834640"/>
            <a:ext cx="42976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 just want to type what I need and get back something that works.”</a:t>
            </a:r>
            <a:endParaRPr lang="en-US" sz="2200" dirty="0"/>
          </a:p>
        </p:txBody>
      </p:sp>
      <p:sp>
        <p:nvSpPr>
          <p:cNvPr id="15" name="Text 10"/>
          <p:cNvSpPr/>
          <p:nvPr/>
        </p:nvSpPr>
        <p:spPr>
          <a:xfrm>
            <a:off x="6903720" y="50749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every non-technical founder, ever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4ADE8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AutoSpec</a:t>
            </a:r>
            <a:endParaRPr lang="en-US" sz="3000" dirty="0"/>
          </a:p>
        </p:txBody>
      </p:sp>
      <p:sp>
        <p:nvSpPr>
          <p:cNvPr id="5" name="Text 2"/>
          <p:cNvSpPr/>
          <p:nvPr/>
        </p:nvSpPr>
        <p:spPr>
          <a:xfrm>
            <a:off x="1645920" y="12344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 it a 2–3 sentence brief. It autonomously produces four artifacts — end to end: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77240" y="1920240"/>
            <a:ext cx="2596896" cy="278892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1709928" y="2240280"/>
            <a:ext cx="731520" cy="731520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5493" y="2415845"/>
            <a:ext cx="380390" cy="3803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868680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Spec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41832" y="361188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requirements + Given/When/Then criteria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3657600" y="1920240"/>
            <a:ext cx="2596896" cy="278892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90288" y="2240280"/>
            <a:ext cx="731520" cy="731520"/>
          </a:xfrm>
          <a:prstGeom prst="ellipse">
            <a:avLst/>
          </a:prstGeom>
          <a:solidFill>
            <a:srgbClr val="B06BF2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5853" y="2415845"/>
            <a:ext cx="380390" cy="38039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Code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3822192" y="361188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single, clean, documented Python module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6537960" y="1920240"/>
            <a:ext cx="2596896" cy="278892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7470648" y="2240280"/>
            <a:ext cx="731520" cy="731520"/>
          </a:xfrm>
          <a:prstGeom prst="ellipse">
            <a:avLst/>
          </a:prstGeom>
          <a:solidFill>
            <a:srgbClr val="4ADE8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46213" y="2415845"/>
            <a:ext cx="380390" cy="38039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629400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Passing Tests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6702552" y="361188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pytest suite with measured coverage %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9418320" y="1920240"/>
            <a:ext cx="2596896" cy="278892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Shape 16"/>
          <p:cNvSpPr/>
          <p:nvPr/>
        </p:nvSpPr>
        <p:spPr>
          <a:xfrm>
            <a:off x="10351008" y="2240280"/>
            <a:ext cx="731520" cy="731520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526573" y="2415845"/>
            <a:ext cx="380390" cy="38039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9509760" y="3154680"/>
            <a:ext cx="24140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Alignment Verdict</a:t>
            </a:r>
            <a:endParaRPr lang="en-US" sz="1700" dirty="0"/>
          </a:p>
        </p:txBody>
      </p:sp>
      <p:sp>
        <p:nvSpPr>
          <p:cNvPr id="25" name="Text 18"/>
          <p:cNvSpPr/>
          <p:nvPr/>
        </p:nvSpPr>
        <p:spPr>
          <a:xfrm>
            <a:off x="9582912" y="3611880"/>
            <a:ext cx="226771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/ NOT ALIGNED with the exact gaps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3566160" y="5120640"/>
            <a:ext cx="5029200" cy="566928"/>
          </a:xfrm>
          <a:prstGeom prst="roundRect">
            <a:avLst>
              <a:gd name="adj" fmla="val 50000"/>
            </a:avLst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0"/>
          <p:cNvSpPr/>
          <p:nvPr/>
        </p:nvSpPr>
        <p:spPr>
          <a:xfrm>
            <a:off x="3794760" y="5166360"/>
            <a:ext cx="475488" cy="475488"/>
          </a:xfrm>
          <a:prstGeom prst="ellipse">
            <a:avLst/>
          </a:prstGeom>
          <a:solidFill>
            <a:srgbClr val="4ADE8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08877" y="5280477"/>
            <a:ext cx="247254" cy="247254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4297680" y="5120640"/>
            <a:ext cx="4114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human intervention mid-run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Architecture: 4 Specialized Agents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868680" y="19659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709928" y="2258568"/>
            <a:ext cx="713232" cy="713232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1104" y="2429744"/>
            <a:ext cx="370881" cy="37088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1832" y="3063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Agent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941832" y="344728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Brief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3300984" y="1965960"/>
            <a:ext cx="3749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Shape 7"/>
          <p:cNvSpPr/>
          <p:nvPr/>
        </p:nvSpPr>
        <p:spPr>
          <a:xfrm>
            <a:off x="3675888" y="19659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4517136" y="2258568"/>
            <a:ext cx="713232" cy="713232"/>
          </a:xfrm>
          <a:prstGeom prst="ellipse">
            <a:avLst/>
          </a:prstGeom>
          <a:solidFill>
            <a:srgbClr val="B06BF2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88312" y="2429744"/>
            <a:ext cx="370881" cy="37088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749040" y="3063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Agent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3749040" y="344728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Spec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6108192" y="1965960"/>
            <a:ext cx="3749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7" name="Shape 12"/>
          <p:cNvSpPr/>
          <p:nvPr/>
        </p:nvSpPr>
        <p:spPr>
          <a:xfrm>
            <a:off x="6483096" y="19659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3"/>
          <p:cNvSpPr/>
          <p:nvPr/>
        </p:nvSpPr>
        <p:spPr>
          <a:xfrm>
            <a:off x="7324344" y="2258568"/>
            <a:ext cx="713232" cy="713232"/>
          </a:xfrm>
          <a:prstGeom prst="ellipse">
            <a:avLst/>
          </a:prstGeom>
          <a:solidFill>
            <a:srgbClr val="4ADE8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5520" y="2429744"/>
            <a:ext cx="370881" cy="37088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56248" y="3063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Agent</a:t>
            </a:r>
            <a:endParaRPr lang="en-US" sz="1600" dirty="0"/>
          </a:p>
        </p:txBody>
      </p:sp>
      <p:sp>
        <p:nvSpPr>
          <p:cNvPr id="21" name="Text 15"/>
          <p:cNvSpPr/>
          <p:nvPr/>
        </p:nvSpPr>
        <p:spPr>
          <a:xfrm>
            <a:off x="6556248" y="344728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writes +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pytest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8915400" y="1965960"/>
            <a:ext cx="374904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23" name="Shape 17"/>
          <p:cNvSpPr/>
          <p:nvPr/>
        </p:nvSpPr>
        <p:spPr>
          <a:xfrm>
            <a:off x="9290304" y="1965960"/>
            <a:ext cx="2395728" cy="2148840"/>
          </a:xfrm>
          <a:prstGeom prst="roundRect">
            <a:avLst>
              <a:gd name="adj" fmla="val 510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18"/>
          <p:cNvSpPr/>
          <p:nvPr/>
        </p:nvSpPr>
        <p:spPr>
          <a:xfrm>
            <a:off x="10131552" y="2258568"/>
            <a:ext cx="713232" cy="713232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302728" y="2429744"/>
            <a:ext cx="370881" cy="370881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9363456" y="3063240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Agent</a:t>
            </a:r>
            <a:endParaRPr lang="en-US" sz="1600" dirty="0"/>
          </a:p>
        </p:txBody>
      </p:sp>
      <p:sp>
        <p:nvSpPr>
          <p:cNvPr id="27" name="Text 20"/>
          <p:cNvSpPr/>
          <p:nvPr/>
        </p:nvSpPr>
        <p:spPr>
          <a:xfrm>
            <a:off x="9363456" y="3447288"/>
            <a:ext cx="224942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checks →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verdict</a:t>
            </a:r>
            <a:endParaRPr lang="en-US" sz="1250" dirty="0"/>
          </a:p>
        </p:txBody>
      </p:sp>
      <p:sp>
        <p:nvSpPr>
          <p:cNvPr id="28" name="Shape 21"/>
          <p:cNvSpPr/>
          <p:nvPr/>
        </p:nvSpPr>
        <p:spPr>
          <a:xfrm>
            <a:off x="868680" y="4617720"/>
            <a:ext cx="10451592" cy="1417320"/>
          </a:xfrm>
          <a:prstGeom prst="roundRect">
            <a:avLst>
              <a:gd name="adj" fmla="val 7742"/>
            </a:avLst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2"/>
          <p:cNvSpPr/>
          <p:nvPr/>
        </p:nvSpPr>
        <p:spPr>
          <a:xfrm>
            <a:off x="1234440" y="4983480"/>
            <a:ext cx="713232" cy="713232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05616" y="5154656"/>
            <a:ext cx="370881" cy="370881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2148840" y="48463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Loop</a:t>
            </a:r>
            <a:endParaRPr lang="en-US" sz="1900" dirty="0"/>
          </a:p>
        </p:txBody>
      </p:sp>
      <p:sp>
        <p:nvSpPr>
          <p:cNvPr id="32" name="Text 24"/>
          <p:cNvSpPr/>
          <p:nvPr/>
        </p:nvSpPr>
        <p:spPr>
          <a:xfrm>
            <a:off x="2148840" y="5285232"/>
            <a:ext cx="8961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ALIGNED</a:t>
            </a:r>
            <a:r>
              <a:rPr lang="en-US" sz="15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→  gaps fed back to the Build Agent  →  re-run Build · Test · Review automatically  (up to 3×)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Innovation: Self-Correcting Loop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691640"/>
            <a:ext cx="2596896" cy="269748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687068" y="1965960"/>
            <a:ext cx="777240" cy="777240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687068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868680" y="288036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gaps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60120" y="329184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Agent pinpoints exactly which acceptance criteria are unmet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657600" y="1691640"/>
            <a:ext cx="2596896" cy="269748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4567428" y="1965960"/>
            <a:ext cx="777240" cy="777240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4567428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749040" y="288036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Feed back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3840480" y="329184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specific gaps are handed back to the Build Agent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6537960" y="1691640"/>
            <a:ext cx="2596896" cy="269748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7447788" y="1965960"/>
            <a:ext cx="777240" cy="777240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447788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5"/>
          <p:cNvSpPr/>
          <p:nvPr/>
        </p:nvSpPr>
        <p:spPr>
          <a:xfrm>
            <a:off x="6629400" y="288036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Re-run</a:t>
            </a:r>
            <a:endParaRPr lang="en-US" sz="1700" dirty="0"/>
          </a:p>
        </p:txBody>
      </p:sp>
      <p:sp>
        <p:nvSpPr>
          <p:cNvPr id="19" name="Text 16"/>
          <p:cNvSpPr/>
          <p:nvPr/>
        </p:nvSpPr>
        <p:spPr>
          <a:xfrm>
            <a:off x="6720840" y="329184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→ Test → Review execute again, automatically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9418320" y="1691640"/>
            <a:ext cx="2596896" cy="2697480"/>
          </a:xfrm>
          <a:prstGeom prst="roundRect">
            <a:avLst>
              <a:gd name="adj" fmla="val 4225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328148" y="1965960"/>
            <a:ext cx="777240" cy="777240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328148" y="1965960"/>
            <a:ext cx="777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9509760" y="2880360"/>
            <a:ext cx="24140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 ×3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9601200" y="3291840"/>
            <a:ext cx="223113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 to three retries — no human ever steps in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1463040" y="4892040"/>
            <a:ext cx="9262872" cy="1051560"/>
          </a:xfrm>
          <a:prstGeom prst="roundRect">
            <a:avLst>
              <a:gd name="adj" fmla="val 10435"/>
            </a:avLst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645920" y="4892040"/>
            <a:ext cx="88696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i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“The pipeline doesn’t just fail — it fixes itself.”</a:t>
            </a:r>
            <a:endParaRPr lang="en-US" sz="2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4ADE8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4087368" y="1481328"/>
            <a:ext cx="7461504" cy="3905576"/>
          </a:xfrm>
          <a:prstGeom prst="roundRect">
            <a:avLst>
              <a:gd name="adj" fmla="val 2341"/>
            </a:avLst>
          </a:prstGeom>
          <a:solidFill>
            <a:srgbClr val="1B274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6" name="Image 1" descr="u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520" y="1554480"/>
            <a:ext cx="7315200" cy="375927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77240" y="160020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judges see: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822960" y="2148840"/>
            <a:ext cx="31546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a brief, hit Run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agents light up in sequence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streaming via SSE</a:t>
            </a:r>
            <a:endParaRPr lang="en-US" sz="1400" dirty="0"/>
          </a:p>
          <a:p>
            <a:pPr marL="203200" indent="-2032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pytest runs — coverage measured</a:t>
            </a:r>
            <a:endParaRPr lang="en-US" sz="1400" dirty="0"/>
          </a:p>
          <a:p>
            <a:pPr marL="203200" indent="-203200">
              <a:buSzPct val="100000"/>
              <a:buChar char="•"/>
            </a:pPr>
            <a:r>
              <a:rPr lang="en-US" sz="14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 verdict, artifacts to .zip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777240" y="5440680"/>
            <a:ext cx="3246120" cy="54864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77240" y="544068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app.py  ·  :5000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— Tip-Calculator Sample Run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2011680"/>
            <a:ext cx="2075688" cy="2651760"/>
          </a:xfrm>
          <a:prstGeom prst="roundRect">
            <a:avLst>
              <a:gd name="adj" fmla="val 528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822960" y="2331720"/>
            <a:ext cx="198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4600" dirty="0"/>
          </a:p>
        </p:txBody>
      </p:sp>
      <p:sp>
        <p:nvSpPr>
          <p:cNvPr id="7" name="Text 4"/>
          <p:cNvSpPr/>
          <p:nvPr/>
        </p:nvSpPr>
        <p:spPr>
          <a:xfrm>
            <a:off x="822960" y="361188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3017520" y="2011680"/>
            <a:ext cx="2075688" cy="2651760"/>
          </a:xfrm>
          <a:prstGeom prst="roundRect">
            <a:avLst>
              <a:gd name="adj" fmla="val 528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3063240" y="2331720"/>
            <a:ext cx="198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8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3063240" y="361188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Tests passed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257800" y="2011680"/>
            <a:ext cx="2075688" cy="2651760"/>
          </a:xfrm>
          <a:prstGeom prst="roundRect">
            <a:avLst>
              <a:gd name="adj" fmla="val 528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5303520" y="2331720"/>
            <a:ext cx="198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4600" dirty="0"/>
          </a:p>
        </p:txBody>
      </p:sp>
      <p:sp>
        <p:nvSpPr>
          <p:cNvPr id="13" name="Text 10"/>
          <p:cNvSpPr/>
          <p:nvPr/>
        </p:nvSpPr>
        <p:spPr>
          <a:xfrm>
            <a:off x="5303520" y="361188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Coverage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7498080" y="2011680"/>
            <a:ext cx="2075688" cy="2651760"/>
          </a:xfrm>
          <a:prstGeom prst="roundRect">
            <a:avLst>
              <a:gd name="adj" fmla="val 528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543800" y="2331720"/>
            <a:ext cx="198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DE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ALIGNED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543800" y="361188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Verdict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9738360" y="2011680"/>
            <a:ext cx="2075688" cy="2651760"/>
          </a:xfrm>
          <a:prstGeom prst="roundRect">
            <a:avLst>
              <a:gd name="adj" fmla="val 5286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9784080" y="2331720"/>
            <a:ext cx="198424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~8s</a:t>
            </a:r>
            <a:endParaRPr lang="en-US" sz="4600" dirty="0"/>
          </a:p>
        </p:txBody>
      </p:sp>
      <p:sp>
        <p:nvSpPr>
          <p:cNvPr id="19" name="Text 16"/>
          <p:cNvSpPr/>
          <p:nvPr/>
        </p:nvSpPr>
        <p:spPr>
          <a:xfrm>
            <a:off x="9784080" y="3611880"/>
            <a:ext cx="1984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to end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1463040" y="5120640"/>
            <a:ext cx="9235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plain-English brief in. A spec, working code, a green test suite, and a verdict out — in about eight seconds.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B06BF2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Kiro — Spec-Driven, All The Way Down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783080"/>
            <a:ext cx="3456432" cy="2468880"/>
          </a:xfrm>
          <a:prstGeom prst="roundRect">
            <a:avLst>
              <a:gd name="adj" fmla="val 4444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97280" y="2103120"/>
            <a:ext cx="658368" cy="658368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5288" y="2261128"/>
            <a:ext cx="342351" cy="34235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920240" y="21031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requirements.md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1097280" y="2971800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formal requirements in EARS format, with a glossary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535424" y="1783080"/>
            <a:ext cx="3456432" cy="2468880"/>
          </a:xfrm>
          <a:prstGeom prst="roundRect">
            <a:avLst>
              <a:gd name="adj" fmla="val 4444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4855464" y="2103120"/>
            <a:ext cx="658368" cy="658368"/>
          </a:xfrm>
          <a:prstGeom prst="ellipse">
            <a:avLst/>
          </a:prstGeom>
          <a:solidFill>
            <a:srgbClr val="B06BF2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13472" y="2261128"/>
            <a:ext cx="342351" cy="3423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678424" y="21031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design.md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4855464" y="2971800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architecture, mermaid diagrams, 26 correctness properties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293608" y="1783080"/>
            <a:ext cx="3456432" cy="2468880"/>
          </a:xfrm>
          <a:prstGeom prst="roundRect">
            <a:avLst>
              <a:gd name="adj" fmla="val 4444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8613648" y="2103120"/>
            <a:ext cx="658368" cy="658368"/>
          </a:xfrm>
          <a:prstGeom prst="ellipse">
            <a:avLst/>
          </a:prstGeom>
          <a:solidFill>
            <a:srgbClr val="4ADE8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1656" y="2261128"/>
            <a:ext cx="342351" cy="342351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436608" y="2103120"/>
            <a:ext cx="217627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tasks.md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8613648" y="2971800"/>
            <a:ext cx="281635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Incremental implementation plan with a dependency graph</a:t>
            </a:r>
            <a:endParaRPr lang="en-US" sz="1350" dirty="0"/>
          </a:p>
        </p:txBody>
      </p:sp>
      <p:sp>
        <p:nvSpPr>
          <p:cNvPr id="20" name="Shape 14"/>
          <p:cNvSpPr/>
          <p:nvPr/>
        </p:nvSpPr>
        <p:spPr>
          <a:xfrm>
            <a:off x="1188720" y="4754880"/>
            <a:ext cx="9811512" cy="1097280"/>
          </a:xfrm>
          <a:prstGeom prst="roundRect">
            <a:avLst>
              <a:gd name="adj" fmla="val 10000"/>
            </a:avLst>
          </a:prstGeom>
          <a:solidFill>
            <a:srgbClr val="1B27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5"/>
          <p:cNvSpPr/>
          <p:nvPr/>
        </p:nvSpPr>
        <p:spPr>
          <a:xfrm>
            <a:off x="1417320" y="4754880"/>
            <a:ext cx="9326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i="1" dirty="0">
                <a:solidFill>
                  <a:srgbClr val="B06BF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“We used Kiro’s spec workflow to build a tool that does spec-driven development. It’s spec-ception.”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77240" y="548640"/>
            <a:ext cx="658368" cy="658368"/>
          </a:xfrm>
          <a:prstGeom prst="ellipse">
            <a:avLst/>
          </a:prstGeom>
          <a:solidFill>
            <a:srgbClr val="FB923C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248" y="706648"/>
            <a:ext cx="342351" cy="34235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645920" y="56692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Wins</a:t>
            </a:r>
            <a:endParaRPr lang="en-US" sz="3000" dirty="0"/>
          </a:p>
        </p:txBody>
      </p:sp>
      <p:sp>
        <p:nvSpPr>
          <p:cNvPr id="5" name="Shape 2"/>
          <p:cNvSpPr/>
          <p:nvPr/>
        </p:nvSpPr>
        <p:spPr>
          <a:xfrm>
            <a:off x="777240" y="1691640"/>
            <a:ext cx="10634472" cy="1024128"/>
          </a:xfrm>
          <a:prstGeom prst="roundRect">
            <a:avLst>
              <a:gd name="adj" fmla="val 10714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1051560" y="1883664"/>
            <a:ext cx="640080" cy="640080"/>
          </a:xfrm>
          <a:prstGeom prst="ellipse">
            <a:avLst/>
          </a:prstGeom>
          <a:solidFill>
            <a:srgbClr val="38BD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1051560" y="188366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920240" y="169164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 quality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572000" y="1691640"/>
            <a:ext cx="6675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EARS requirements, Given/When/Then criteria, glossary, full traceability</a:t>
            </a:r>
            <a:endParaRPr lang="en-US" sz="1350" dirty="0"/>
          </a:p>
        </p:txBody>
      </p:sp>
      <p:sp>
        <p:nvSpPr>
          <p:cNvPr id="10" name="Shape 7"/>
          <p:cNvSpPr/>
          <p:nvPr/>
        </p:nvSpPr>
        <p:spPr>
          <a:xfrm>
            <a:off x="777240" y="2880360"/>
            <a:ext cx="10634472" cy="1024128"/>
          </a:xfrm>
          <a:prstGeom prst="roundRect">
            <a:avLst>
              <a:gd name="adj" fmla="val 10714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1051560" y="3072384"/>
            <a:ext cx="640080" cy="640080"/>
          </a:xfrm>
          <a:prstGeom prst="ellipse">
            <a:avLst/>
          </a:prstGeom>
          <a:solidFill>
            <a:srgbClr val="4ADE8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307238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920240" y="288036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Working demo</a:t>
            </a:r>
            <a:endParaRPr lang="en-US" sz="1800" dirty="0"/>
          </a:p>
        </p:txBody>
      </p:sp>
      <p:sp>
        <p:nvSpPr>
          <p:cNvPr id="14" name="Text 11"/>
          <p:cNvSpPr/>
          <p:nvPr/>
        </p:nvSpPr>
        <p:spPr>
          <a:xfrm>
            <a:off x="4572000" y="2880360"/>
            <a:ext cx="6675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web UI, real pytest execution, 100% coverage, downloadable artifacts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777240" y="4069080"/>
            <a:ext cx="10634472" cy="1024128"/>
          </a:xfrm>
          <a:prstGeom prst="roundRect">
            <a:avLst>
              <a:gd name="adj" fmla="val 10714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3"/>
          <p:cNvSpPr/>
          <p:nvPr/>
        </p:nvSpPr>
        <p:spPr>
          <a:xfrm>
            <a:off x="1051560" y="4261104"/>
            <a:ext cx="640080" cy="640080"/>
          </a:xfrm>
          <a:prstGeom prst="ellipse">
            <a:avLst/>
          </a:prstGeom>
          <a:solidFill>
            <a:srgbClr val="B06BF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1051560" y="4261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1920240" y="406908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Innovation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572000" y="4069080"/>
            <a:ext cx="6675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Self-correcting retry loop, live SSE streaming, 4-agent architecture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777240" y="5257800"/>
            <a:ext cx="10634472" cy="1024128"/>
          </a:xfrm>
          <a:prstGeom prst="roundRect">
            <a:avLst>
              <a:gd name="adj" fmla="val 10714"/>
            </a:avLst>
          </a:prstGeom>
          <a:solidFill>
            <a:srgbClr val="131C30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8"/>
          <p:cNvSpPr/>
          <p:nvPr/>
        </p:nvSpPr>
        <p:spPr>
          <a:xfrm>
            <a:off x="1051560" y="5449824"/>
            <a:ext cx="640080" cy="640080"/>
          </a:xfrm>
          <a:prstGeom prst="ellipse">
            <a:avLst/>
          </a:prstGeom>
          <a:solidFill>
            <a:srgbClr val="FB92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51560" y="544982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B10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25%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1920240" y="5257800"/>
            <a:ext cx="265176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Pitch &amp; story</a:t>
            </a:r>
            <a:endParaRPr lang="en-US" sz="1800" dirty="0"/>
          </a:p>
        </p:txBody>
      </p:sp>
      <p:sp>
        <p:nvSpPr>
          <p:cNvPr id="24" name="Text 21"/>
          <p:cNvSpPr/>
          <p:nvPr/>
        </p:nvSpPr>
        <p:spPr>
          <a:xfrm>
            <a:off x="4572000" y="5257800"/>
            <a:ext cx="667512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watch the agent relay happen live in the browser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40680" y="1737360"/>
            <a:ext cx="1280160" cy="1280160"/>
          </a:xfrm>
          <a:prstGeom prst="ellipse">
            <a:avLst/>
          </a:prstGeom>
          <a:solidFill>
            <a:srgbClr val="38BDF8"/>
          </a:solidFill>
          <a:ln/>
          <a:effectLst>
            <a:outerShdw blurRad="114300" dist="381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7918" y="2044598"/>
            <a:ext cx="665683" cy="66568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14400" y="3154680"/>
            <a:ext cx="103601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AutoSpec</a:t>
            </a:r>
            <a:endParaRPr lang="en-US" sz="5600" dirty="0"/>
          </a:p>
        </p:txBody>
      </p:sp>
      <p:sp>
        <p:nvSpPr>
          <p:cNvPr id="5" name="Text 2"/>
          <p:cNvSpPr/>
          <p:nvPr/>
        </p:nvSpPr>
        <p:spPr>
          <a:xfrm>
            <a:off x="914400" y="4114800"/>
            <a:ext cx="103601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it - and it builds, tests, and reviews itself.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4023360" y="4983480"/>
            <a:ext cx="4142232" cy="566928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4"/>
          <p:cNvSpPr/>
          <p:nvPr/>
        </p:nvSpPr>
        <p:spPr>
          <a:xfrm>
            <a:off x="4023360" y="4983480"/>
            <a:ext cx="41422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DE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python3 app.py  →  localhost:5000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14400" y="576072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C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 ·  Flask  ·  pytest  ·  AWS Bedrock  ·  Kiro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14400" y="6126480"/>
            <a:ext cx="103601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9FB0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 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859</Words>
  <Application>Microsoft Macintosh PowerPoint</Application>
  <PresentationFormat>Widescreen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AutoSpec — AWS Kiro Hackathon Challenge 8</dc:title>
  <dc:subject>PptxGenJS Presentation</dc:subject>
  <dc:creator>AutoSpec Team</dc:creator>
  <cp:lastModifiedBy>Vishal Kalra</cp:lastModifiedBy>
  <cp:revision>2</cp:revision>
  <dcterms:created xsi:type="dcterms:W3CDTF">2026-06-24T04:20:07Z</dcterms:created>
  <dcterms:modified xsi:type="dcterms:W3CDTF">2026-06-26T13:36:45Z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1a6c3db-1667-4f49-995a-8b9973972958_Enabled">
    <vt:lpwstr>true</vt:lpwstr>
  </property>
  <property fmtid="{D5CDD505-2E9C-101B-9397-08002B2CF9AE}" pid="3" name="MSIP_Label_51a6c3db-1667-4f49-995a-8b9973972958_SetDate">
    <vt:lpwstr>2026-06-26T13:36:45Z</vt:lpwstr>
  </property>
  <property fmtid="{D5CDD505-2E9C-101B-9397-08002B2CF9AE}" pid="4" name="MSIP_Label_51a6c3db-1667-4f49-995a-8b9973972958_Method">
    <vt:lpwstr>Standard</vt:lpwstr>
  </property>
  <property fmtid="{D5CDD505-2E9C-101B-9397-08002B2CF9AE}" pid="5" name="MSIP_Label_51a6c3db-1667-4f49-995a-8b9973972958_Name">
    <vt:lpwstr>UTS-Internal</vt:lpwstr>
  </property>
  <property fmtid="{D5CDD505-2E9C-101B-9397-08002B2CF9AE}" pid="6" name="MSIP_Label_51a6c3db-1667-4f49-995a-8b9973972958_SiteId">
    <vt:lpwstr>e8911c26-cf9f-4a9c-878e-527807be8791</vt:lpwstr>
  </property>
  <property fmtid="{D5CDD505-2E9C-101B-9397-08002B2CF9AE}" pid="7" name="MSIP_Label_51a6c3db-1667-4f49-995a-8b9973972958_ActionId">
    <vt:lpwstr>c262ae51-8a77-4f32-98af-73dd8d6bfd2c</vt:lpwstr>
  </property>
  <property fmtid="{D5CDD505-2E9C-101B-9397-08002B2CF9AE}" pid="8" name="MSIP_Label_51a6c3db-1667-4f49-995a-8b9973972958_ContentBits">
    <vt:lpwstr>0</vt:lpwstr>
  </property>
  <property fmtid="{D5CDD505-2E9C-101B-9397-08002B2CF9AE}" pid="9" name="MSIP_Label_51a6c3db-1667-4f49-995a-8b9973972958_Tag">
    <vt:lpwstr>50, 3, 0, 1</vt:lpwstr>
  </property>
</Properties>
</file>